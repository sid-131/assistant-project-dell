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6C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 PROPOSAL · DELL POWERSCALE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PowerScale Assistant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EAF3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expert OneFS administrator, embedded in the console.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100% local</a:t>
            </a:r>
            <a:pPr indent="0" marL="0">
              <a:buNone/>
            </a:pPr>
            <a:r>
              <a:rPr lang="en-US" sz="1300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grounded in official OneFS 9.12 documentation   ·   nothing leaves the cluster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869680" y="141732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869680" y="1417320"/>
            <a:ext cx="2697480" cy="640080"/>
          </a:xfrm>
          <a:prstGeom prst="rect">
            <a:avLst/>
          </a:prstGeom>
          <a:solidFill>
            <a:srgbClr val="0076CE"/>
          </a:solidFill>
          <a:ln/>
        </p:spPr>
      </p:sp>
      <p:sp>
        <p:nvSpPr>
          <p:cNvPr id="9" name="Text 7"/>
          <p:cNvSpPr/>
          <p:nvPr/>
        </p:nvSpPr>
        <p:spPr>
          <a:xfrm>
            <a:off x="9006840" y="14173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Assistant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92640" y="228600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0076CE"/>
          </a:solidFill>
          <a:ln/>
        </p:spPr>
      </p:sp>
      <p:sp>
        <p:nvSpPr>
          <p:cNvPr id="11" name="Text 9"/>
          <p:cNvSpPr/>
          <p:nvPr/>
        </p:nvSpPr>
        <p:spPr>
          <a:xfrm>
            <a:off x="9692640" y="2286000"/>
            <a:ext cx="17373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do I add a node?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006840" y="292608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0" y="30175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Cluster management →
    Hardware configuration.
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Add node, then join.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006840" y="4480560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EAF3FB"/>
          </a:solidFill>
          <a:ln w="12700">
            <a:solidFill>
              <a:srgbClr val="CDDD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44805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55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Admin Guide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0241280" y="4480560"/>
            <a:ext cx="960120" cy="292608"/>
          </a:xfrm>
          <a:prstGeom prst="roundRect">
            <a:avLst>
              <a:gd name="adj" fmla="val 15625"/>
            </a:avLst>
          </a:prstGeom>
          <a:solidFill>
            <a:srgbClr val="EAF3FB"/>
          </a:solidFill>
          <a:ln w="12700">
            <a:solidFill>
              <a:srgbClr val="CDDD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0" y="448056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55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 Reference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OneFS is powerful — but expert-gated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knowledge to run it exists. It just isn't where the admin is working — so routine questions become tab-switches and support cases.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3456432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3200400"/>
            <a:ext cx="777240" cy="777240"/>
          </a:xfrm>
          <a:prstGeom prst="ellipse">
            <a:avLst/>
          </a:prstGeom>
          <a:solidFill>
            <a:srgbClr val="EAF3F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416052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Deep, dense product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4663440"/>
            <a:ext cx="281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official manuals, thousands of pages. Answers exist — buried.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70832" y="2834640"/>
            <a:ext cx="3456432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0872" y="3200400"/>
            <a:ext cx="777240" cy="777240"/>
          </a:xfrm>
          <a:prstGeom prst="ellipse">
            <a:avLst/>
          </a:prstGeom>
          <a:solidFill>
            <a:srgbClr val="EAF3FB"/>
          </a:solidFill>
          <a:ln/>
        </p:spPr>
      </p:sp>
      <p:sp>
        <p:nvSpPr>
          <p:cNvPr id="12" name="Text 10"/>
          <p:cNvSpPr/>
          <p:nvPr/>
        </p:nvSpPr>
        <p:spPr>
          <a:xfrm>
            <a:off x="4690872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90872" y="416052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 of the workflow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90872" y="4663440"/>
            <a:ext cx="281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Help means leaving the console for a PDF, a KB portal, or a ticket.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01584" y="2834640"/>
            <a:ext cx="3456432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21624" y="3200400"/>
            <a:ext cx="777240" cy="777240"/>
          </a:xfrm>
          <a:prstGeom prst="ellipse">
            <a:avLst/>
          </a:prstGeom>
          <a:solidFill>
            <a:srgbClr val="EAF3FB"/>
          </a:solidFill>
          <a:ln/>
        </p:spPr>
      </p:sp>
      <p:sp>
        <p:nvSpPr>
          <p:cNvPr id="17" name="Text 15"/>
          <p:cNvSpPr/>
          <p:nvPr/>
        </p:nvSpPr>
        <p:spPr>
          <a:xfrm>
            <a:off x="8421624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21624" y="416052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Expert-gated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21624" y="4663440"/>
            <a:ext cx="281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Junior admins stall on senior knowledge; mistakes drive support load.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TODAY'S HELP FAILS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Today's “help” is a PDF and a support case —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neither is in the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246888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41248" y="356616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hits a question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400507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mid-task, in the WebUI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54680" y="2926080"/>
            <a:ext cx="320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520440" y="2926080"/>
            <a:ext cx="246888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21608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721608" y="356616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Leaves the console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00507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 · KB portal · ticket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2926080"/>
            <a:ext cx="320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00800" y="2926080"/>
            <a:ext cx="246888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01968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01968" y="356616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is lost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01968" y="400507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 drift, guesswork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915400" y="2926080"/>
            <a:ext cx="320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281160" y="2926080"/>
            <a:ext cx="2468880" cy="1554480"/>
          </a:xfrm>
          <a:prstGeom prst="roundRect">
            <a:avLst>
              <a:gd name="adj" fmla="val 5294"/>
            </a:avLst>
          </a:prstGeom>
          <a:solidFill>
            <a:srgbClr val="FFF1E8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482328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482328" y="356616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Slow resolution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482328" y="400507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a Dell support case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029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detour is time the admin doesn't have — and a chance to misconfigure the cluster.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embedded the docs as a cited</a:t>
            </a:r>
            <a:endParaRPr lang="en-US" sz="2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expert, right inside the WebUI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in plain English without leaving the console.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 come only from official OneFS docs, with source citations — and if the docs don't cover it, it says so instead of guessing.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3931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Grounded in official documentation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4480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Cites its sources on every answer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50292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5029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Says “I don't know” — no hallucination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040880" y="1234440"/>
            <a:ext cx="4526280" cy="507492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040880" y="1691640"/>
            <a:ext cx="4526280" cy="457200"/>
          </a:xfrm>
          <a:prstGeom prst="rect">
            <a:avLst/>
          </a:prstGeom>
          <a:solidFill>
            <a:srgbClr val="0076CE"/>
          </a:solidFill>
          <a:ln/>
        </p:spPr>
      </p:sp>
      <p:sp>
        <p:nvSpPr>
          <p:cNvPr id="13" name="Text 11"/>
          <p:cNvSpPr/>
          <p:nvPr/>
        </p:nvSpPr>
        <p:spPr>
          <a:xfrm>
            <a:off x="7223760" y="128016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OneFS Storage Administration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223760" y="16916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   Cluster mgmt    File System    Protocols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269480" y="2377440"/>
            <a:ext cx="2103120" cy="822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7269480" y="3337560"/>
            <a:ext cx="2103120" cy="12801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7333488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Cluster status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555480" y="2331720"/>
            <a:ext cx="1783080" cy="3657600"/>
          </a:xfrm>
          <a:prstGeom prst="roundRect">
            <a:avLst>
              <a:gd name="adj" fmla="val 35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555480" y="2331720"/>
            <a:ext cx="1783080" cy="457200"/>
          </a:xfrm>
          <a:prstGeom prst="rect">
            <a:avLst/>
          </a:prstGeom>
          <a:solidFill>
            <a:srgbClr val="0076CE"/>
          </a:solidFill>
          <a:ln/>
        </p:spPr>
      </p:sp>
      <p:sp>
        <p:nvSpPr>
          <p:cNvPr id="20" name="Text 18"/>
          <p:cNvSpPr/>
          <p:nvPr/>
        </p:nvSpPr>
        <p:spPr>
          <a:xfrm>
            <a:off x="9646920" y="2331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Assistant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058400" y="2926080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0076CE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0" y="2926080"/>
            <a:ext cx="11887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an SMB share?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9646920" y="3383280"/>
            <a:ext cx="16002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38360" y="3474720"/>
            <a:ext cx="1463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Protocols → Windows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Sharing (SMB).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Create an SMB Share.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Name the share and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set the /ifs path.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9646920" y="507492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EAF3FB"/>
          </a:solidFill>
          <a:ln w="12700">
            <a:solidFill>
              <a:srgbClr val="CDDD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46920" y="5074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0055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Admin Guide</a:t>
            </a:r>
            <a:endParaRPr lang="en-US" sz="550" dirty="0"/>
          </a:p>
        </p:txBody>
      </p:sp>
      <p:sp>
        <p:nvSpPr>
          <p:cNvPr id="27" name="Text 25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FB8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PROOF — IT ALREADY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already works — fully local, nothing leaves the cluster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395728" cy="1371600"/>
          </a:xfrm>
          <a:prstGeom prst="roundRect">
            <a:avLst>
              <a:gd name="adj" fmla="val 5333"/>
            </a:avLst>
          </a:prstGeom>
          <a:solidFill>
            <a:srgbClr val="14304A"/>
          </a:solidFill>
          <a:ln w="12700">
            <a:solidFill>
              <a:srgbClr val="2350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51460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WebUI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embedded panel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54096" y="228600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55848" y="2286000"/>
            <a:ext cx="2395728" cy="1371600"/>
          </a:xfrm>
          <a:prstGeom prst="roundRect">
            <a:avLst>
              <a:gd name="adj" fmla="val 5333"/>
            </a:avLst>
          </a:prstGeom>
          <a:solidFill>
            <a:srgbClr val="14304A"/>
          </a:solidFill>
          <a:ln w="12700">
            <a:solidFill>
              <a:srgbClr val="2350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38728" y="251460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engine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38728" y="301752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retrieve + ground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9864" y="228600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071616" y="2286000"/>
            <a:ext cx="2395728" cy="1371600"/>
          </a:xfrm>
          <a:prstGeom prst="roundRect">
            <a:avLst>
              <a:gd name="adj" fmla="val 5333"/>
            </a:avLst>
          </a:prstGeom>
          <a:solidFill>
            <a:srgbClr val="14304A"/>
          </a:solidFill>
          <a:ln w="12700">
            <a:solidFill>
              <a:srgbClr val="2350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251460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knowledge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54496" y="301752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ChromaDB · OneFS docs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85632" y="228600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787384" y="2286000"/>
            <a:ext cx="2395728" cy="1371600"/>
          </a:xfrm>
          <a:prstGeom prst="roundRect">
            <a:avLst>
              <a:gd name="adj" fmla="val 5333"/>
            </a:avLst>
          </a:prstGeom>
          <a:solidFill>
            <a:srgbClr val="14304A"/>
          </a:solidFill>
          <a:ln w="12700">
            <a:solidFill>
              <a:srgbClr val="2350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70264" y="251460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LLM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970264" y="301752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Ollama · llama3.1:8b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886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C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internet. No cloud. No data egress — the property that makes it adoptable in air-gapped clusters.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800600"/>
            <a:ext cx="2606040" cy="1371600"/>
          </a:xfrm>
          <a:prstGeom prst="roundRect">
            <a:avLst>
              <a:gd name="adj" fmla="val 4667"/>
            </a:avLst>
          </a:prstGeom>
          <a:solidFill>
            <a:srgbClr val="102A42"/>
          </a:solidFill>
          <a:ln w="12700">
            <a:solidFill>
              <a:srgbClr val="1D3F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983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77240" y="5669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manuals indexed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10712" y="4800600"/>
            <a:ext cx="2606040" cy="1371600"/>
          </a:xfrm>
          <a:prstGeom prst="roundRect">
            <a:avLst>
              <a:gd name="adj" fmla="val 4667"/>
            </a:avLst>
          </a:prstGeom>
          <a:solidFill>
            <a:srgbClr val="102A42"/>
          </a:solidFill>
          <a:ln w="12700">
            <a:solidFill>
              <a:srgbClr val="1D3F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47872" y="4983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5,205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3547872" y="5669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passages searchable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81344" y="4800600"/>
            <a:ext cx="2606040" cy="1371600"/>
          </a:xfrm>
          <a:prstGeom prst="roundRect">
            <a:avLst>
              <a:gd name="adj" fmla="val 4667"/>
            </a:avLst>
          </a:prstGeom>
          <a:solidFill>
            <a:srgbClr val="102A42"/>
          </a:solidFill>
          <a:ln w="12700">
            <a:solidFill>
              <a:srgbClr val="1D3F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18504" y="4983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0.73–0.79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318504" y="5669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 relevance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951976" y="4800600"/>
            <a:ext cx="2606040" cy="1371600"/>
          </a:xfrm>
          <a:prstGeom prst="roundRect">
            <a:avLst>
              <a:gd name="adj" fmla="val 4667"/>
            </a:avLst>
          </a:prstGeom>
          <a:solidFill>
            <a:srgbClr val="102A42"/>
          </a:solidFill>
          <a:ln w="12700">
            <a:solidFill>
              <a:srgbClr val="1D3F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89136" y="4983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9089136" y="5669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 that leave the box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 CHATBOT IN A TAB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It's woven into the console, and its answers are actionable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788920"/>
            <a:ext cx="777240" cy="777240"/>
          </a:xfrm>
          <a:prstGeom prst="ellipse">
            <a:avLst/>
          </a:prstGeom>
          <a:solidFill>
            <a:srgbClr val="EAF3F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88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920240" y="269748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Context-aware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920240" y="315468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Knows which page you're on; tailors answers and suggestions to it.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228600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788920"/>
            <a:ext cx="777240" cy="777240"/>
          </a:xfrm>
          <a:prstGeom prst="ellipse">
            <a:avLst/>
          </a:prstGeom>
          <a:solidFill>
            <a:srgbClr val="EAF3FB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788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🩺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52360" y="269748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 this event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452360" y="315468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an alert; get a plain-English cause and fix, cited from the docs.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34340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846320"/>
            <a:ext cx="777240" cy="777240"/>
          </a:xfrm>
          <a:prstGeom prst="ellipse">
            <a:avLst/>
          </a:prstGeom>
          <a:solidFill>
            <a:srgbClr val="EAF3F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846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🧭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920240" y="475488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Click-to-navigate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920240" y="521208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 link to the right WebUI screen and take you there.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34340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846320"/>
            <a:ext cx="777240" cy="777240"/>
          </a:xfrm>
          <a:prstGeom prst="ellipse">
            <a:avLst/>
          </a:prstGeom>
          <a:solidFill>
            <a:srgbClr val="EAF3FB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846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⌨️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52360" y="475488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Copyable CLI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452360" y="521208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Commands render as ready-to-run, one-click-copy code blocks.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INTEGRATES — HONESTLY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it as a sidecar, not on the storage nodes —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air-gap stays intact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880360"/>
            <a:ext cx="3456432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315468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On-cluster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3703320"/>
            <a:ext cx="2907792" cy="45720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70332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Low–Med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2907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Inside OneFS with the WebUI. Smallest footprint, but LLM inference competes with storage I/O on FreeBSD nodes with no GPU.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0832" y="2880360"/>
            <a:ext cx="3456432" cy="3108960"/>
          </a:xfrm>
          <a:prstGeom prst="roundRect">
            <a:avLst>
              <a:gd name="adj" fmla="val 2647"/>
            </a:avLst>
          </a:prstGeom>
          <a:solidFill>
            <a:srgbClr val="EAF6EF"/>
          </a:solidFill>
          <a:ln w="25400">
            <a:solidFill>
              <a:srgbClr val="1E8E4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45152" y="315468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Sidecar appliance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645152" y="3703320"/>
            <a:ext cx="2907792" cy="457200"/>
          </a:xfrm>
          <a:prstGeom prst="roundRect">
            <a:avLst>
              <a:gd name="adj" fmla="val 12000"/>
            </a:avLst>
          </a:prstGeom>
          <a:solidFill>
            <a:srgbClr val="1E8E4E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370332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· recommended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45152" y="4297680"/>
            <a:ext cx="2907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small Linux VM/container beside the cluster. Keeps inference off storage nodes, stays on-prem and air-gap-friendly.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1584" y="2880360"/>
            <a:ext cx="3456432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75904" y="315468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CloudIQ / APEX AIOps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375904" y="3703320"/>
            <a:ext cx="2907792" cy="45720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/>
        </p:spPr>
      </p:sp>
      <p:sp>
        <p:nvSpPr>
          <p:cNvPr id="17" name="Text 15"/>
          <p:cNvSpPr/>
          <p:nvPr/>
        </p:nvSpPr>
        <p:spPr>
          <a:xfrm>
            <a:off x="8375904" y="370332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(connected)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75904" y="4297680"/>
            <a:ext cx="2907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Dell-hosted SaaS. Best model quality and central updates — for customers who allow the connectivity Dell already ships.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PHASED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Read-only first, actions later — trust gates the roadmap, not capability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3108960"/>
            <a:ext cx="1042416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58468" y="2852928"/>
            <a:ext cx="512064" cy="51206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1458468" y="2852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2148840" cy="219456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794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4069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 Q&amp;A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57200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Embedded, cited answers. (Today's prototype.)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26180" y="2852928"/>
            <a:ext cx="512064" cy="512064"/>
          </a:xfrm>
          <a:prstGeom prst="ellipse">
            <a:avLst/>
          </a:prstGeom>
          <a:solidFill>
            <a:srgbClr val="0076CE"/>
          </a:solidFill>
          <a:ln/>
        </p:spPr>
      </p:sp>
      <p:sp>
        <p:nvSpPr>
          <p:cNvPr id="12" name="Text 10"/>
          <p:cNvSpPr/>
          <p:nvPr/>
        </p:nvSpPr>
        <p:spPr>
          <a:xfrm>
            <a:off x="3726180" y="2852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907792" y="3657600"/>
            <a:ext cx="2148840" cy="219456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090672" y="3840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read-only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90672" y="434340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Grounds in this cluster's real state via the Platform API.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93892" y="2852928"/>
            <a:ext cx="512064" cy="512064"/>
          </a:xfrm>
          <a:prstGeom prst="ellipse">
            <a:avLst/>
          </a:prstGeom>
          <a:solidFill>
            <a:srgbClr val="0076CE"/>
          </a:solidFill>
          <a:ln/>
        </p:spPr>
      </p:sp>
      <p:sp>
        <p:nvSpPr>
          <p:cNvPr id="17" name="Text 15"/>
          <p:cNvSpPr/>
          <p:nvPr/>
        </p:nvSpPr>
        <p:spPr>
          <a:xfrm>
            <a:off x="5993892" y="2852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175504" y="3657600"/>
            <a:ext cx="2148840" cy="219456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58384" y="3840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Guided actions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58384" y="434340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actions behind RBAC, confirmation, and audit.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61604" y="2852928"/>
            <a:ext cx="512064" cy="512064"/>
          </a:xfrm>
          <a:prstGeom prst="ellipse">
            <a:avLst/>
          </a:prstGeom>
          <a:solidFill>
            <a:srgbClr val="0076CE"/>
          </a:solidFill>
          <a:ln/>
        </p:spPr>
      </p:sp>
      <p:sp>
        <p:nvSpPr>
          <p:cNvPr id="22" name="Text 20"/>
          <p:cNvSpPr/>
          <p:nvPr/>
        </p:nvSpPr>
        <p:spPr>
          <a:xfrm>
            <a:off x="8261604" y="2852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43216" y="3657600"/>
            <a:ext cx="2148840" cy="219456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626096" y="3840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Cross-product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626096" y="434340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Fleet-wide via CloudIQ / APEX AIOps.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529316" y="2852928"/>
            <a:ext cx="512064" cy="512064"/>
          </a:xfrm>
          <a:prstGeom prst="ellipse">
            <a:avLst/>
          </a:prstGeom>
          <a:solidFill>
            <a:srgbClr val="0076CE"/>
          </a:solidFill>
          <a:ln/>
        </p:spPr>
      </p:sp>
      <p:sp>
        <p:nvSpPr>
          <p:cNvPr id="27" name="Text 25"/>
          <p:cNvSpPr/>
          <p:nvPr/>
        </p:nvSpPr>
        <p:spPr>
          <a:xfrm>
            <a:off x="10529316" y="2852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710928" y="3657600"/>
            <a:ext cx="2148840" cy="219456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893808" y="3840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893808" y="434340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Detects, recommends, and predicts.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BEYOND POWERSCALE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engine, the whole Dell portfolio — with CloudIQ as the hub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pattern everywhere: docs + an embeddable panel + a read-only API connector. Build the engine once; add a corpus and a connector per product.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60920" y="2286000"/>
            <a:ext cx="2743200" cy="2743200"/>
          </a:xfrm>
          <a:prstGeom prst="ellipse">
            <a:avLst/>
          </a:prstGeom>
          <a:solidFill>
            <a:srgbClr val="0076CE"/>
          </a:solidFill>
          <a:ln/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60920" y="228600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Assistant engine
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CloudIQ / APEX AIOps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60350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926080"/>
            <a:ext cx="91440" cy="749808"/>
          </a:xfrm>
          <a:prstGeom prst="rect">
            <a:avLst/>
          </a:prstGeom>
          <a:solidFill>
            <a:srgbClr val="0076C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017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PowerStore · PowerMax · Unity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3375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Storage REST APIs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75120" y="3300984"/>
            <a:ext cx="685800" cy="35661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840480"/>
            <a:ext cx="60350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840480"/>
            <a:ext cx="91440" cy="749808"/>
          </a:xfrm>
          <a:prstGeom prst="rect">
            <a:avLst/>
          </a:prstGeom>
          <a:solidFill>
            <a:srgbClr val="0076C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PowerEdge · iDRAC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2519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Redfish standard — one connector, many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75120" y="4215384"/>
            <a:ext cx="685800" cy="-557784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754880"/>
            <a:ext cx="60350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754880"/>
            <a:ext cx="91440" cy="749808"/>
          </a:xfrm>
          <a:prstGeom prst="rect">
            <a:avLst/>
          </a:prstGeom>
          <a:solidFill>
            <a:srgbClr val="0076CE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846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PowerProtect · Data Domain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51663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Backup admin, simplified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75120" y="5129784"/>
            <a:ext cx="685800" cy="-1472184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5669280"/>
            <a:ext cx="60350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5669280"/>
            <a:ext cx="91440" cy="749808"/>
          </a:xfrm>
          <a:prstGeom prst="rect">
            <a:avLst/>
          </a:prstGeom>
          <a:solidFill>
            <a:srgbClr val="0076CE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VxRail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60807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 in VxRail Manager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75120" y="6044184"/>
            <a:ext cx="685800" cy="-2386584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Fewer tickets. Faster admins. A stickier platform.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3456432" cy="1828800"/>
          </a:xfrm>
          <a:prstGeom prst="roundRect">
            <a:avLst>
              <a:gd name="adj" fmla="val 4000"/>
            </a:avLst>
          </a:prstGeom>
          <a:solidFill>
            <a:srgbClr val="14304A"/>
          </a:solidFill>
          <a:ln w="12700">
            <a:solidFill>
              <a:srgbClr val="2350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3090672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Deflect support cases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3749040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Admins self-serve from the docs instead of opening Dell cases.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70832" y="2834640"/>
            <a:ext cx="3456432" cy="1828800"/>
          </a:xfrm>
          <a:prstGeom prst="roundRect">
            <a:avLst>
              <a:gd name="adj" fmla="val 4000"/>
            </a:avLst>
          </a:prstGeom>
          <a:solidFill>
            <a:srgbClr val="14304A"/>
          </a:solidFill>
          <a:ln w="12700">
            <a:solidFill>
              <a:srgbClr val="2350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6864" y="3090672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Lower the expertise barrier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26864" y="3749040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Junior admins get senior-level guidance — expanding who can run OneFS.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01584" y="2834640"/>
            <a:ext cx="3456432" cy="1828800"/>
          </a:xfrm>
          <a:prstGeom prst="roundRect">
            <a:avLst>
              <a:gd name="adj" fmla="val 4000"/>
            </a:avLst>
          </a:prstGeom>
          <a:solidFill>
            <a:srgbClr val="14304A"/>
          </a:solidFill>
          <a:ln w="12700">
            <a:solidFill>
              <a:srgbClr val="2350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57616" y="3090672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product feedback flywheel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57616" y="3749040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Anonymized questions reveal doc gaps and unmet needs Dell can't see today.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507492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507492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ask: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green-light a Phase 0–1 pilot on a sidecar with two design-partner clusters.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PowerScale Assistant — Concept Proposal</dc:title>
  <dc:subject>PptxGenJS Presentation</dc:subject>
  <dc:creator>PowerScale Assistant</dc:creator>
  <cp:lastModifiedBy>PowerScale Assistant</cp:lastModifiedBy>
  <cp:revision>1</cp:revision>
  <dcterms:created xsi:type="dcterms:W3CDTF">2026-06-14T08:27:12Z</dcterms:created>
  <dcterms:modified xsi:type="dcterms:W3CDTF">2026-06-14T08:27:12Z</dcterms:modified>
</cp:coreProperties>
</file>